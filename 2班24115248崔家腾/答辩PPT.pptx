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D2A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01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0485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D2A2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600" b="1">
                <a:solidFill>
                  <a:srgbClr val="0D2A2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走迷宫游戏</a:t>
            </a:r>
            <a:endParaRPr sz="3600" b="1">
              <a:solidFill>
                <a:srgbClr val="0D2A2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524000"/>
            <a:ext cx="7334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基于 C 语言的控制台字符画迷宫生成与路径搜索系统</a:t>
            </a:r>
            <a:endParaRPr sz="1800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238125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E6F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447925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递归回溯生成</a:t>
            </a:r>
            <a:endParaRPr sz="9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455545" y="2381250"/>
            <a:ext cx="1537970" cy="323850"/>
          </a:xfrm>
          <a:prstGeom prst="roundRect">
            <a:avLst>
              <a:gd name="adj" fmla="val 23529"/>
            </a:avLst>
          </a:prstGeom>
          <a:solidFill>
            <a:srgbClr val="EAF0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876550" y="244792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可行路径</a:t>
            </a:r>
            <a:endParaRPr sz="975" b="1">
              <a:solidFill>
                <a:srgbClr val="2B8C8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76750" y="2381250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F7E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29150" y="244792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A6B1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9A6B1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 最短路径</a:t>
            </a:r>
            <a:endParaRPr sz="975" b="1">
              <a:solidFill>
                <a:srgbClr val="9A6B1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3105150"/>
            <a:ext cx="6191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程序设计综合实践分组答辩</a:t>
            </a:r>
            <a:endParaRPr sz="14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负责人：崔家腾  参与人：方文韬、王修乐、李许、吴加爽、李乐</a:t>
            </a:r>
            <a:endParaRPr sz="14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endParaRPr sz="14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0" y="628650"/>
            <a:ext cx="3600450" cy="5219700"/>
          </a:xfrm>
          <a:prstGeom prst="roundRect">
            <a:avLst>
              <a:gd name="adj" fmla="val 2116"/>
            </a:avLst>
          </a:prstGeom>
          <a:solidFill>
            <a:srgbClr val="102B2A"/>
          </a:solidFill>
          <a:ln w="11430">
            <a:solidFill>
              <a:srgbClr val="315854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1589099"/>
            <a:ext cx="3105150" cy="2708251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058150" y="5257800"/>
            <a:ext cx="3105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控制台字符画可视化</a:t>
            </a:r>
            <a:endParaRPr sz="1275" b="1">
              <a:solidFill>
                <a:srgbClr val="E8FFF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02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项目定位：把搜索算法做成可交互演示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纯 C99 + Windows 控制台，不依赖第三方图形库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7526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7526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1943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算法实践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305050"/>
            <a:ext cx="27432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在同一个迷宫问题上实现递归回溯、DFS、BFS，直观看到“能到达”和“最短路径”的差异。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514850" y="17526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14850" y="17526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2B8C8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43450" y="1943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工程实践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43450" y="2305050"/>
            <a:ext cx="27432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 个 .c 文件按职责拆分，主程序、迷宫数据、搜索算法、渲染、输入彼此解耦。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05800" y="175260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05800" y="17526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1943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课堂展示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34400" y="2305050"/>
            <a:ext cx="27432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 ASCII 字符画显示墙、通路、起点、终点、路径和玩家，适合答辩现场演示。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4781550"/>
            <a:ext cx="990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开发环境：C99 标准 / MinGW-w64 GCC 14.2.0 / C 标准库 + Windows conio.h</a:t>
            </a:r>
            <a:endParaRPr sz="1500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5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协作方式：飞书云文档同步代码版本，微信群文件夹沉淀截图、报告和测试材料。</a:t>
            </a:r>
            <a:endParaRPr sz="1500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03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功能清单：从生成到求解再到手动游玩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项目功能围绕“生成迷宫、展示搜索、玩家交互”展开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1562100"/>
            <a:ext cx="10572750" cy="457200"/>
          </a:xfrm>
          <a:prstGeom prst="roundRect">
            <a:avLst>
              <a:gd name="adj" fmla="val 16667"/>
            </a:avLst>
          </a:prstGeom>
          <a:solidFill>
            <a:srgbClr val="0D2A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16859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编号</a:t>
            </a:r>
            <a:endParaRPr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47900" y="168592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功能名称</a:t>
            </a:r>
            <a:endParaRPr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24400" y="1685925"/>
            <a:ext cx="581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功能描述</a:t>
            </a:r>
            <a:endParaRPr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9150" y="209550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0EBDD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227647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F1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47900" y="2266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随机迷宫生成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24400" y="226695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递归回溯算法，支持 11x11 / 21x21 / 31x31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19150" y="276225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FFDF7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85850" y="294322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F2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47900" y="29337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自动求解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24400" y="293370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递归搜索，找到一条可行路径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342900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0EBDD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360997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F3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47900" y="36004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 最短求解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24400" y="360045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数组模拟队列，回溯父节点得到最短路径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19150" y="409575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FFDF7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427672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F4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47900" y="42672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玩家键盘操作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24400" y="426720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方向键移动，Esc / R / Q 控制流程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19150" y="476250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0EBDD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85850" y="494347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F5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247900" y="4933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字符画可视化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24400" y="493395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## 墙、S 起点、E 终点、. 路径、P 玩家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9150" y="5429250"/>
            <a:ext cx="10572750" cy="590550"/>
          </a:xfrm>
          <a:prstGeom prst="roundRect">
            <a:avLst>
              <a:gd name="adj" fmla="val 12903"/>
            </a:avLst>
          </a:prstGeom>
          <a:solidFill>
            <a:srgbClr val="FFFDF7"/>
          </a:solidFill>
          <a:ln w="7620">
            <a:solidFill>
              <a:srgbClr val="DDD3C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85850" y="5610225"/>
            <a:ext cx="81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F6</a:t>
            </a:r>
            <a:endParaRPr sz="1275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47900" y="56007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状态栏信息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724400" y="560070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显示算法、用时、扩展节点数、路径长度</a:t>
            </a:r>
            <a:endParaRPr sz="127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04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模块架构：main.c 统一调度，算法与外设解耦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 个 C 源文件按职责拆分，便于分工、测试和后续替换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762500" y="1466850"/>
            <a:ext cx="2667000" cy="685800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857750" y="1609725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main.c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主菜单 / 流程控制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762500" y="3028950"/>
            <a:ext cx="2667000" cy="685800"/>
          </a:xfrm>
          <a:prstGeom prst="roundRect">
            <a:avLst>
              <a:gd name="adj" fmla="val 11111"/>
            </a:avLst>
          </a:prstGeom>
          <a:solidFill>
            <a:srgbClr val="FFFDF7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57750" y="3171825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maze.c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迷宫数据 + 递归生成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00150" y="47625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4F7F6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490537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深度优先求解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867150" y="47625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4F7F6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962400" y="490537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最短路径求解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534150" y="47625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4F7F6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29400" y="490537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render.c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ASCII 绘制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201150" y="47625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7EED8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96400" y="490537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input.c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键盘输入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0" y="2133600"/>
            <a:ext cx="876300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5981700" y="295275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3695700"/>
            <a:ext cx="3034591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/>
          <p:cNvSpPr>
            <a:spLocks noGrp="1"/>
          </p:cNvSpPr>
          <p:nvPr/>
        </p:nvSpPr>
        <p:spPr>
          <a:xfrm>
            <a:off x="2228850" y="4686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857875" y="3695700"/>
            <a:ext cx="1384406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/>
          <p:cNvSpPr>
            <a:spLocks noGrp="1"/>
          </p:cNvSpPr>
          <p:nvPr/>
        </p:nvSpPr>
        <p:spPr>
          <a:xfrm>
            <a:off x="4838700" y="4686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715125" y="3695700"/>
            <a:ext cx="1396931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7524750" y="4686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29500" y="1790700"/>
            <a:ext cx="4109019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等腰三角形 27"/>
          <p:cNvSpPr>
            <a:spLocks noGrp="1"/>
          </p:cNvSpPr>
          <p:nvPr/>
        </p:nvSpPr>
        <p:spPr>
          <a:xfrm>
            <a:off x="10172700" y="4686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8675" y="5848350"/>
            <a:ext cx="9048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架构要点：maze.c 是数据中心；dfs/bfs/render 读取迷宫；input.c 与算法模块保持解耦，后续可替换为 GUI 事件输入。</a:t>
            </a:r>
            <a:endParaRPr sz="135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05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交互流程：菜单选择驱动三种玩法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自动求解用于算法展示，手动模式用于游戏体验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00025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143125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 maze.exe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进入主菜单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781300" y="200025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876550" y="2143125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选择难度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11 / 21 / 31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895850" y="200025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991100" y="2143125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生成随机迷宫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显示在左侧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10400" y="200025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7EED8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05650" y="2143125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选择模式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/ BFS / 手动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124950" y="200025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14288">
            <a:solidFill>
              <a:srgbClr val="1D6B5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220200" y="2143125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展示结果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统计或通关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86000" y="2457450"/>
            <a:ext cx="495300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>
            <a:off x="2667000" y="2400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00550" y="2457450"/>
            <a:ext cx="495300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4781550" y="2400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2457450"/>
            <a:ext cx="495300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/>
          <p:cNvSpPr>
            <a:spLocks noGrp="1"/>
          </p:cNvSpPr>
          <p:nvPr/>
        </p:nvSpPr>
        <p:spPr>
          <a:xfrm>
            <a:off x="6896100" y="2400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629650" y="2457450"/>
            <a:ext cx="495300" cy="381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/>
          <p:cNvSpPr>
            <a:spLocks noGrp="1"/>
          </p:cNvSpPr>
          <p:nvPr/>
        </p:nvSpPr>
        <p:spPr>
          <a:xfrm>
            <a:off x="9010650" y="2400300"/>
            <a:ext cx="171450" cy="152400"/>
          </a:xfrm>
          <a:prstGeom prst="triangle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66800" y="4038600"/>
            <a:ext cx="10058400" cy="914400"/>
          </a:xfrm>
          <a:prstGeom prst="roundRect">
            <a:avLst>
              <a:gd name="adj" fmla="val 8333"/>
            </a:avLst>
          </a:prstGeom>
          <a:solidFill>
            <a:srgbClr val="0D2A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09700" y="4248150"/>
            <a:ext cx="933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快捷控制：Esc 返回主菜单    R 重新生成迷宫    Q 退出程序</a:t>
            </a:r>
            <a:endParaRPr sz="1650" b="1">
              <a:solidFill>
                <a:srgbClr val="E8FFF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650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E8FFF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状态栏实时显示当前算法、扩展节点数、路径长度与用时。</a:t>
            </a:r>
            <a:endParaRPr sz="1650" b="1">
              <a:solidFill>
                <a:srgbClr val="E8FFF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06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核心算法 1：递归回溯生成迷宫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随机打乱方向，每次跳两格打通墙体，回退后继续探索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600200"/>
            <a:ext cx="5619750" cy="3390900"/>
          </a:xfrm>
          <a:prstGeom prst="roundRect">
            <a:avLst>
              <a:gd name="adj" fmla="val 2247"/>
            </a:avLst>
          </a:prstGeom>
          <a:solidFill>
            <a:srgbClr val="102B2A"/>
          </a:solidFill>
          <a:ln w="9525">
            <a:solidFill>
              <a:srgbClr val="31585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771650"/>
            <a:ext cx="5200650" cy="3067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procedure generate(r, c):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maze[r][c] = 0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dirs = shuffle(up, down, left, right)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for each direction in dirs: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nr = r + 2 * dr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nc = c + 2 * dc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inside(nr, nc) and maze[nr][nc] is wall: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maze[r + dr][c + dc] = 0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generate(nr, nc)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6953250" y="1876425"/>
            <a:ext cx="114300" cy="114300"/>
          </a:xfrm>
          <a:prstGeom prst="ellipse">
            <a:avLst/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19950" y="180975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初始迷宫全为墙，起点从 (1,1) 开始递归</a:t>
            </a:r>
            <a:endParaRPr sz="1425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6953250" y="2543175"/>
            <a:ext cx="114300" cy="114300"/>
          </a:xfrm>
          <a:prstGeom prst="ellipse">
            <a:avLst/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19950" y="24765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“跳两格”保证墙与通路交替，形态更像真实迷宫</a:t>
            </a:r>
            <a:endParaRPr sz="1425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953250" y="3209925"/>
            <a:ext cx="114300" cy="114300"/>
          </a:xfrm>
          <a:prstGeom prst="ellipse">
            <a:avLst/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19950" y="314325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方向随机化让每次运行生成不同地图</a:t>
            </a:r>
            <a:endParaRPr sz="1425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6953250" y="3876675"/>
            <a:ext cx="114300" cy="114300"/>
          </a:xfrm>
          <a:prstGeom prst="ellipse">
            <a:avLst/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19950" y="38100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每个格子至多访问一次，时间复杂度 O(N²)</a:t>
            </a:r>
            <a:endParaRPr sz="1425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07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核心算法 2：DFS 找到一条可行路径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一路向深处探索，走不通就回退，找到终点后层层返回成功信号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581150"/>
            <a:ext cx="5372100" cy="3333750"/>
          </a:xfrm>
          <a:prstGeom prst="roundRect">
            <a:avLst>
              <a:gd name="adj" fmla="val 2286"/>
            </a:avLst>
          </a:prstGeom>
          <a:solidFill>
            <a:srgbClr val="102B2A"/>
          </a:solidFill>
          <a:ln w="9525">
            <a:solidFill>
              <a:srgbClr val="31585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752600"/>
            <a:ext cx="49530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procedure dfs(r, c):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(r, c) == target: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true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visited[r][c] = true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for each neighbor: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passable and not visited: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if dfs(neighbor) == true: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mark neighbor as path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return true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false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705600" y="1714500"/>
            <a:ext cx="4095750" cy="1143000"/>
          </a:xfrm>
          <a:prstGeom prst="roundRect">
            <a:avLst>
              <a:gd name="adj" fmla="val 666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705600" y="1714500"/>
            <a:ext cx="66675" cy="1143000"/>
          </a:xfrm>
          <a:prstGeom prst="roundRect">
            <a:avLst>
              <a:gd name="adj" fmla="val 50000"/>
            </a:avLst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934200" y="1905000"/>
            <a:ext cx="3695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适合展示“搜索过程”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34200" y="22669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路径由递归调用栈自然形成，代码短，逻辑直观。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705600" y="3143250"/>
            <a:ext cx="4095750" cy="1143000"/>
          </a:xfrm>
          <a:prstGeom prst="roundRect">
            <a:avLst>
              <a:gd name="adj" fmla="val 666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05600" y="3143250"/>
            <a:ext cx="66675" cy="1143000"/>
          </a:xfrm>
          <a:prstGeom prst="roundRect">
            <a:avLst>
              <a:gd name="adj" fmla="val 50000"/>
            </a:avLst>
          </a:prstGeom>
          <a:solidFill>
            <a:srgbClr val="C458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934200" y="3333750"/>
            <a:ext cx="3695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但不保证最短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34200" y="369570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找到终点即返回，路径取决于方向顺序，可能绕远路。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781800" y="4838700"/>
            <a:ext cx="4191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 21x21 实测中，DFS 平均扩展约 80 个节点，运行时间在 10ms 以内。</a:t>
            </a:r>
            <a:endParaRPr sz="14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08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核心算法 3：BFS 求最短路径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按层扩展队列，并用 prev 表从终点倒推回起点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581150"/>
            <a:ext cx="5467350" cy="3429000"/>
          </a:xfrm>
          <a:prstGeom prst="roundRect">
            <a:avLst>
              <a:gd name="adj" fmla="val 2222"/>
            </a:avLst>
          </a:prstGeom>
          <a:solidFill>
            <a:srgbClr val="102B2A"/>
          </a:solidFill>
          <a:ln w="9525">
            <a:solidFill>
              <a:srgbClr val="31585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752600"/>
            <a:ext cx="504825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enqueue(start)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visited[start] = true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queue not empty: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cell = dequeue()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cell == target: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backtrack prev[] to mark path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shortest_steps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for each neighbor: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passable and not visited: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visited[neighbor] = true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prev[neighbor] = cell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E8FF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enqueue(neighbor)</a:t>
            </a:r>
            <a:endParaRPr sz="1200" b="0">
              <a:solidFill>
                <a:srgbClr val="E8FF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724650" y="1733550"/>
            <a:ext cx="4114800" cy="1219200"/>
          </a:xfrm>
          <a:prstGeom prst="roundRect">
            <a:avLst>
              <a:gd name="adj" fmla="val 6250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724650" y="1733550"/>
            <a:ext cx="66675" cy="1219200"/>
          </a:xfrm>
          <a:prstGeom prst="roundRect">
            <a:avLst>
              <a:gd name="adj" fmla="val 50000"/>
            </a:avLst>
          </a:prstGeom>
          <a:solidFill>
            <a:srgbClr val="2B8C8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953250" y="19240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为什么 BFS 一定最短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3250" y="2286000"/>
            <a:ext cx="371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队列按距离层级扩展，第一次到达终点时已经是最少步数。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724650" y="3295650"/>
            <a:ext cx="4114800" cy="1219200"/>
          </a:xfrm>
          <a:prstGeom prst="roundRect">
            <a:avLst>
              <a:gd name="adj" fmla="val 6250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24650" y="3295650"/>
            <a:ext cx="66675" cy="1219200"/>
          </a:xfrm>
          <a:prstGeom prst="roundRect">
            <a:avLst>
              <a:gd name="adj" fmla="val 50000"/>
            </a:avLst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953250" y="34861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实现方式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3848100"/>
            <a:ext cx="371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用数组模拟队列，容量 N*N；prev_r / prev_c 记录父节点。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00850" y="5029200"/>
            <a:ext cx="4171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代价：BFS 通常扩展节点更多，21x21 平均约 200 个节点，但仍在 10ms 以内。</a:t>
            </a:r>
            <a:endParaRPr sz="14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09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效率对比：复杂度相同，搜索目标不同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三类算法渐近复杂度均为 O(N²)，差异主要体现在常数因子与路径性质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695450"/>
            <a:ext cx="2476500" cy="514350"/>
          </a:xfrm>
          <a:prstGeom prst="rect">
            <a:avLst/>
          </a:prstGeom>
          <a:solidFill>
            <a:srgbClr val="0D2A2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18478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算法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33750" y="1695450"/>
            <a:ext cx="2476500" cy="514350"/>
          </a:xfrm>
          <a:prstGeom prst="rect">
            <a:avLst/>
          </a:prstGeom>
          <a:solidFill>
            <a:srgbClr val="0D2A2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67100" y="18478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时间复杂度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10250" y="1695450"/>
            <a:ext cx="2476500" cy="514350"/>
          </a:xfrm>
          <a:prstGeom prst="rect">
            <a:avLst/>
          </a:prstGeom>
          <a:solidFill>
            <a:srgbClr val="0D2A2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43600" y="18478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空间复杂度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1695450"/>
            <a:ext cx="3048000" cy="514350"/>
          </a:xfrm>
          <a:prstGeom prst="rect">
            <a:avLst/>
          </a:prstGeom>
          <a:solidFill>
            <a:srgbClr val="0D2A2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18478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说明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22098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24193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迷宫生成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33750" y="22098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86150" y="24193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10250" y="22098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62650" y="24193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86750" y="2209800"/>
            <a:ext cx="30480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439150" y="241935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每格至多访问一次，递归深度最坏 N²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2914650"/>
            <a:ext cx="2476500" cy="704850"/>
          </a:xfrm>
          <a:prstGeom prst="rect">
            <a:avLst/>
          </a:prstGeom>
          <a:solidFill>
            <a:srgbClr val="FFFDF7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31242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求解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33750" y="2914650"/>
            <a:ext cx="2476500" cy="704850"/>
          </a:xfrm>
          <a:prstGeom prst="rect">
            <a:avLst/>
          </a:prstGeom>
          <a:solidFill>
            <a:srgbClr val="FFFDF7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86150" y="31242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10250" y="2914650"/>
            <a:ext cx="2476500" cy="704850"/>
          </a:xfrm>
          <a:prstGeom prst="rect">
            <a:avLst/>
          </a:prstGeom>
          <a:solidFill>
            <a:srgbClr val="FFFDF7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62650" y="31242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86750" y="2914650"/>
            <a:ext cx="3048000" cy="704850"/>
          </a:xfrm>
          <a:prstGeom prst="rect">
            <a:avLst/>
          </a:prstGeom>
          <a:solidFill>
            <a:srgbClr val="FFFDF7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39150" y="31242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最坏遍历所有格子；找到即返回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57250" y="36195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09650" y="38290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 最短路径</a:t>
            </a:r>
            <a:endParaRPr sz="13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33750" y="36195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38290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810250" y="3619500"/>
            <a:ext cx="24765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962650" y="382905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O(N²)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286750" y="3619500"/>
            <a:ext cx="3048000" cy="704850"/>
          </a:xfrm>
          <a:prstGeom prst="rect">
            <a:avLst/>
          </a:prstGeom>
          <a:solidFill>
            <a:srgbClr val="F0EBDD"/>
          </a:solidFill>
          <a:ln w="7620">
            <a:solidFill>
              <a:srgbClr val="D6CCB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439150" y="382905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每格入队一次；需要队列和 prev 表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123950" y="4857750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8F1EC"/>
          </a:solidFill>
          <a:ln w="9525">
            <a:solidFill>
              <a:srgbClr val="B8D4C7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428750" y="5010150"/>
            <a:ext cx="419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DFS：平均扩展约 80 个节点</a:t>
            </a:r>
            <a:endParaRPr sz="150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50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路径不一定最短</a:t>
            </a:r>
            <a:endParaRPr sz="150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343650" y="4857750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AF0F3"/>
          </a:solidFill>
          <a:ln w="9525">
            <a:solidFill>
              <a:srgbClr val="B9D1D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48450" y="5010150"/>
            <a:ext cx="419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BFS：平均扩展约 200 个节点</a:t>
            </a:r>
            <a:endParaRPr sz="1500" b="1">
              <a:solidFill>
                <a:srgbClr val="2B8C8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500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2B8C8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路径一定最短</a:t>
            </a:r>
            <a:endParaRPr sz="1500" b="1">
              <a:solidFill>
                <a:srgbClr val="2B8C8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10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运行截图：主菜单、生成结果与两种自动求解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524000"/>
            <a:ext cx="2419350" cy="4000500"/>
          </a:xfrm>
          <a:prstGeom prst="roundRect">
            <a:avLst>
              <a:gd name="adj" fmla="val 3150"/>
            </a:avLst>
          </a:prstGeom>
          <a:solidFill>
            <a:srgbClr val="0A1715"/>
          </a:solidFill>
          <a:ln w="11430">
            <a:solidFill>
              <a:srgbClr val="243B38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76977"/>
            <a:ext cx="2228850" cy="1627846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19150" y="5219700"/>
            <a:ext cx="2114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主菜单</a:t>
            </a:r>
            <a:endParaRPr sz="975" b="0">
              <a:solidFill>
                <a:srgbClr val="D5ECE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371850" y="1524000"/>
            <a:ext cx="2419350" cy="4000500"/>
          </a:xfrm>
          <a:prstGeom prst="roundRect">
            <a:avLst>
              <a:gd name="adj" fmla="val 3150"/>
            </a:avLst>
          </a:prstGeom>
          <a:solidFill>
            <a:srgbClr val="0A1715"/>
          </a:solidFill>
          <a:ln w="11430">
            <a:solidFill>
              <a:srgbClr val="243B3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2418920"/>
            <a:ext cx="2228850" cy="1943959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3524250" y="5219700"/>
            <a:ext cx="2114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随机迷宫</a:t>
            </a:r>
            <a:endParaRPr sz="975" b="0">
              <a:solidFill>
                <a:srgbClr val="D5ECE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76950" y="1524000"/>
            <a:ext cx="2419350" cy="4000500"/>
          </a:xfrm>
          <a:prstGeom prst="roundRect">
            <a:avLst>
              <a:gd name="adj" fmla="val 3150"/>
            </a:avLst>
          </a:prstGeom>
          <a:solidFill>
            <a:srgbClr val="0A1715"/>
          </a:solidFill>
          <a:ln w="11430">
            <a:solidFill>
              <a:srgbClr val="243B38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69821"/>
            <a:ext cx="2228850" cy="1842158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6229350" y="5219700"/>
            <a:ext cx="2114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求解</a:t>
            </a:r>
            <a:endParaRPr sz="975" b="0">
              <a:solidFill>
                <a:srgbClr val="D5ECE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82050" y="1524000"/>
            <a:ext cx="2724150" cy="4000500"/>
          </a:xfrm>
          <a:prstGeom prst="roundRect">
            <a:avLst>
              <a:gd name="adj" fmla="val 2797"/>
            </a:avLst>
          </a:prstGeom>
          <a:solidFill>
            <a:srgbClr val="0A1715"/>
          </a:solidFill>
          <a:ln w="11430">
            <a:solidFill>
              <a:srgbClr val="243B38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2390653"/>
            <a:ext cx="2533650" cy="2000494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8934450" y="5219700"/>
            <a:ext cx="2419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BFS 最短路径</a:t>
            </a:r>
            <a:endParaRPr sz="975" b="0">
              <a:solidFill>
                <a:srgbClr val="D5ECE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12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团队分工：每人有可量化产出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主程序员负责核心代码，其他成员围绕测试、数据、截图、文档与答辩支撑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146685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28700" y="16573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崔家腾</a:t>
            </a:r>
            <a:endParaRPr sz="16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81250" y="16764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队长 / 主程序员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28700" y="203835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main.c / maze.c / dfs.c / bfs.c / render.c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约 500 行代码 + 文档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15050" y="146685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7EED8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43650" y="16573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6B1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9A6B1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方文韬</a:t>
            </a:r>
            <a:endParaRPr sz="1650" b="1">
              <a:solidFill>
                <a:srgbClr val="9A6B1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696200" y="16764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输入模块 + PPT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43650" y="203835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input.c 键盘输入 + 答辩 PPT 撰写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约 50 行代码 + PPT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0100" y="284797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28700" y="303847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王修乐</a:t>
            </a:r>
            <a:endParaRPr sz="16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381250" y="305752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测试用例设计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028700" y="3419475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测试用例设计与运行验证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测试材料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15050" y="2847975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343650" y="303847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李许</a:t>
            </a:r>
            <a:endParaRPr sz="16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696200" y="305752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性能数据收集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343650" y="3419475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/ BFS 实测与数据整理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性能数据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00100" y="4229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028700" y="44196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吴加爽</a:t>
            </a:r>
            <a:endParaRPr sz="16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2381250" y="44386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截图素材整理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028700" y="480060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运行截图与素材整理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截图素材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6115050" y="4229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343650" y="44196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李乐</a:t>
            </a:r>
            <a:endParaRPr sz="16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7696200" y="44386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文档校对</a:t>
            </a:r>
            <a:endParaRPr sz="1275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6343650" y="4800600"/>
            <a:ext cx="4095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报告术语校对与答辩演练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文档校对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13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95300"/>
            <a:ext cx="781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创新点与不足：可视化、对比、解耦</a:t>
            </a:r>
            <a:endParaRPr sz="255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0096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在合理工作量内突出算法展示价值和工程扩展意识</a:t>
            </a:r>
            <a:endParaRPr sz="1200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1543050"/>
            <a:ext cx="3143250" cy="15240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1543050"/>
            <a:ext cx="66675" cy="1524000"/>
          </a:xfrm>
          <a:prstGeom prst="roundRect">
            <a:avLst>
              <a:gd name="adj" fmla="val 50000"/>
            </a:avLst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73355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同一迷宫横向对比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095500"/>
            <a:ext cx="27432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DFS 与 BFS 在同一份迷宫上运行，直接展示“DFS 不一定最短，BFS 一定最短”。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514850" y="1543050"/>
            <a:ext cx="3143250" cy="15240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14850" y="1543050"/>
            <a:ext cx="66675" cy="1524000"/>
          </a:xfrm>
          <a:prstGeom prst="roundRect">
            <a:avLst>
              <a:gd name="adj" fmla="val 50000"/>
            </a:avLst>
          </a:prstGeom>
          <a:solidFill>
            <a:srgbClr val="2B8C8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43450" y="173355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控制台字符画可视化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43450" y="2095500"/>
            <a:ext cx="27432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不依赖图形库，用 ## / S / E / . / P 表示关键状态，跨 Windows 控制台环境运行。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324850" y="1543050"/>
            <a:ext cx="3143250" cy="15240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24850" y="1543050"/>
            <a:ext cx="66675" cy="1524000"/>
          </a:xfrm>
          <a:prstGeom prst="roundRect">
            <a:avLst>
              <a:gd name="adj" fmla="val 50000"/>
            </a:avLst>
          </a:prstGeom>
          <a:solidFill>
            <a:srgbClr val="E0A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53450" y="173355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渲染层与算法层解耦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53450" y="2095500"/>
            <a:ext cx="27432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render.c 独立封装，未来换 EasyX / SDL 时可以保留算法模块。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190750" y="3905250"/>
            <a:ext cx="3429000" cy="1238250"/>
          </a:xfrm>
          <a:prstGeom prst="roundRect">
            <a:avLst>
              <a:gd name="adj" fmla="val 6154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190750" y="3905250"/>
            <a:ext cx="66675" cy="1238250"/>
          </a:xfrm>
          <a:prstGeom prst="roundRect">
            <a:avLst>
              <a:gd name="adj" fmla="val 50000"/>
            </a:avLst>
          </a:prstGeom>
          <a:solidFill>
            <a:srgbClr val="1D6B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419350" y="40957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三档难度与状态栏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419350" y="4457700"/>
            <a:ext cx="3028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支持 11x11 / 21x21 / 31x31，并展示扩展节点数、路径步数等量化信息。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572250" y="3905250"/>
            <a:ext cx="3429000" cy="1238250"/>
          </a:xfrm>
          <a:prstGeom prst="roundRect">
            <a:avLst>
              <a:gd name="adj" fmla="val 6154"/>
            </a:avLst>
          </a:prstGeom>
          <a:solidFill>
            <a:srgbClr val="FFFDF7"/>
          </a:solidFill>
          <a:ln w="9525">
            <a:solidFill>
              <a:srgbClr val="D6CCBA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572250" y="3905250"/>
            <a:ext cx="66675" cy="1238250"/>
          </a:xfrm>
          <a:prstGeom prst="roundRect">
            <a:avLst>
              <a:gd name="adj" fmla="val 50000"/>
            </a:avLst>
          </a:prstGeom>
          <a:solidFill>
            <a:srgbClr val="C4584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00850" y="40957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后续扩展方向</a:t>
            </a:r>
            <a:endParaRPr sz="1500" b="1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00850" y="4457700"/>
            <a:ext cx="3028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5261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A* 算法、迷宫存档与回放、动画速度调节等受时间限制尚未实现。</a:t>
            </a:r>
            <a:endParaRPr sz="1125" b="0">
              <a:solidFill>
                <a:srgbClr val="52615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D2A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62484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2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5F"/>
                </a:solidFill>
                <a:latin typeface="Aptos"/>
                <a:ea typeface="Aptos"/>
                <a:cs typeface="Aptos"/>
              </a:rPr>
              <a:t>14</a:t>
            </a:r>
            <a:endParaRPr sz="1125" b="0">
              <a:solidFill>
                <a:srgbClr val="5261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78105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0D2A2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300" b="1">
                <a:solidFill>
                  <a:srgbClr val="0D2A2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总结</a:t>
            </a:r>
            <a:endParaRPr sz="3300" b="1">
              <a:solidFill>
                <a:srgbClr val="0D2A2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695450"/>
            <a:ext cx="59055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17201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本项目把递归、DFS、BFS 三类算法落到一个可交互的迷宫游戏中，并通过模块拆分完成多人协作开发。技术上掌握了搜索算法、控制台渲染、键盘输入和工程调试；表达上完成了从长报告到答辩叙事的压缩。</a:t>
            </a:r>
            <a:endParaRPr sz="1800" b="0">
              <a:solidFill>
                <a:srgbClr val="17201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00100" y="4000500"/>
            <a:ext cx="4857750" cy="876300"/>
          </a:xfrm>
          <a:prstGeom prst="roundRect">
            <a:avLst>
              <a:gd name="adj" fmla="val 8696"/>
            </a:avLst>
          </a:prstGeom>
          <a:solidFill>
            <a:srgbClr val="E8F1EC"/>
          </a:solidFill>
          <a:ln w="9525">
            <a:solidFill>
              <a:srgbClr val="B8D4C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4229100"/>
            <a:ext cx="428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950" b="1">
                <a:solidFill>
                  <a:srgbClr val="1D6B5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谢谢观看，欢迎老师提问</a:t>
            </a:r>
            <a:endParaRPr sz="1950" b="1">
              <a:solidFill>
                <a:srgbClr val="1D6B5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143750" y="666750"/>
            <a:ext cx="3848100" cy="5200650"/>
          </a:xfrm>
          <a:prstGeom prst="roundRect">
            <a:avLst>
              <a:gd name="adj" fmla="val 1980"/>
            </a:avLst>
          </a:prstGeom>
          <a:solidFill>
            <a:srgbClr val="102B2A"/>
          </a:solidFill>
          <a:ln w="11430">
            <a:solidFill>
              <a:srgbClr val="315854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0" y="1882219"/>
            <a:ext cx="3390900" cy="2312512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7486650" y="53530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D5ECE5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玩家手动通关效果</a:t>
            </a:r>
            <a:endParaRPr sz="1200" b="0">
              <a:solidFill>
                <a:srgbClr val="D5ECE5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3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4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5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6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7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8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9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0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1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2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3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4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5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6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7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8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19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0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1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2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3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ags/tag24.xml><?xml version="1.0" encoding="utf-8"?>
<p:tagLst xmlns:p="http://schemas.openxmlformats.org/presentationml/2006/main">
  <p:tag name="KSO_WM_DIAGRAM_VIRTUALLY_FRAME" val="{&quot;height&quot;:304.5,&quot;left&quot;:63,&quot;top&quot;:115.5,&quot;width&quot;:793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3126</Words>
  <Application>WPS 演示</Application>
  <PresentationFormat>Converted Presentation</PresentationFormat>
  <Paragraphs>357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Aptos</vt:lpstr>
      <vt:lpstr>Segoe UI</vt:lpstr>
      <vt:lpstr>Microsoft YaHei UI</vt:lpstr>
      <vt:lpstr>Consolas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方文韬</cp:lastModifiedBy>
  <cp:revision>2</cp:revision>
  <dcterms:created xsi:type="dcterms:W3CDTF">2026-05-24T06:42:23Z</dcterms:created>
  <dcterms:modified xsi:type="dcterms:W3CDTF">2026-05-24T06:42:39Z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C144E24AB98749A7887C0A4E8E34C337_12</vt:lpwstr>
  </property>
</Properties>
</file>
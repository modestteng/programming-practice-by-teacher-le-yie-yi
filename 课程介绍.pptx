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432" r:id="rId3"/>
    <p:sldId id="433" r:id="rId4"/>
    <p:sldId id="435"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28" userDrawn="1">
          <p15:clr>
            <a:srgbClr val="A4A3A4"/>
          </p15:clr>
        </p15:guide>
        <p15:guide id="2" pos="3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B3C2"/>
    <a:srgbClr val="6C6DAE"/>
    <a:srgbClr val="A63833"/>
    <a:srgbClr val="5A327D"/>
    <a:srgbClr val="285A32"/>
    <a:srgbClr val="404040"/>
    <a:srgbClr val="B42D2D"/>
    <a:srgbClr val="6B3C96"/>
    <a:srgbClr val="547D7D"/>
    <a:srgbClr val="5155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0"/>
    <p:restoredTop sz="92788" autoAdjust="0"/>
  </p:normalViewPr>
  <p:slideViewPr>
    <p:cSldViewPr snapToGrid="0" showGuides="1">
      <p:cViewPr varScale="1">
        <p:scale>
          <a:sx n="56" d="100"/>
          <a:sy n="56" d="100"/>
        </p:scale>
        <p:origin x="-102" y="-348"/>
      </p:cViewPr>
      <p:guideLst>
        <p:guide orient="horz" pos="2128"/>
        <p:guide pos="3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CFB564-F609-4D6A-B7A1-3D4272BF8A56}" type="datetimeFigureOut">
              <a:rPr lang="zh-CN" altLang="en-US" smtClean="0"/>
              <a:t>2026/3/20</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BF65F-D44F-4528-A462-40F60C357A5F}" type="slidenum">
              <a:rPr lang="zh-CN" altLang="en-US" smtClean="0"/>
              <a:t>‹#›</a:t>
            </a:fld>
            <a:endParaRPr lang="zh-CN" altLang="en-US"/>
          </a:p>
        </p:txBody>
      </p:sp>
    </p:spTree>
    <p:extLst>
      <p:ext uri="{BB962C8B-B14F-4D97-AF65-F5344CB8AC3E}">
        <p14:creationId xmlns:p14="http://schemas.microsoft.com/office/powerpoint/2010/main" val="2447850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CBB96C3F-8C63-432F-9AD1-2207182A8732}" type="datetimeFigureOut">
              <a:rPr lang="zh-CN" altLang="en-US" smtClean="0"/>
              <a:t>2026/3/20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F6F9FB9-CEB1-457A-B993-A1A76D83EC0F}" type="slidenum">
              <a:rPr lang="zh-CN" altLang="en-US" smtClean="0"/>
              <a:t>‹#›</a:t>
            </a:fld>
            <a:endParaRPr lang="zh-CN" alt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6" y="0"/>
            <a:ext cx="12190954" cy="68585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CBB96C3F-8C63-432F-9AD1-2207182A8732}" type="datetimeFigureOut">
              <a:rPr lang="zh-CN" altLang="en-US" smtClean="0"/>
              <a:t>2026/3/20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F6F9FB9-CEB1-457A-B993-A1A76D83EC0F}" type="slidenum">
              <a:rPr lang="zh-CN" altLang="en-US" smtClean="0"/>
              <a:t>‹#›</a:t>
            </a:fld>
            <a:endParaRPr lang="zh-CN" alt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6" y="0"/>
            <a:ext cx="12190954" cy="6858588"/>
          </a:xfrm>
          <a:prstGeom prst="rect">
            <a:avLst/>
          </a:prstGeom>
        </p:spPr>
      </p:pic>
      <p:sp>
        <p:nvSpPr>
          <p:cNvPr id="8" name="Rectangle 4"/>
          <p:cNvSpPr/>
          <p:nvPr userDrawn="1"/>
        </p:nvSpPr>
        <p:spPr>
          <a:xfrm>
            <a:off x="319020" y="734291"/>
            <a:ext cx="11520000" cy="5760000"/>
          </a:xfrm>
          <a:prstGeom prst="rect">
            <a:avLst/>
          </a:prstGeom>
          <a:noFill/>
          <a:ln w="28575">
            <a:solidFill>
              <a:srgbClr val="5A32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userDrawn="1"/>
        </p:nvSpPr>
        <p:spPr>
          <a:xfrm>
            <a:off x="11057481" y="6403427"/>
            <a:ext cx="648000" cy="180000"/>
          </a:xfrm>
          <a:prstGeom prst="roundRect">
            <a:avLst/>
          </a:prstGeom>
          <a:solidFill>
            <a:srgbClr val="5A327D"/>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sp>
        <p:nvSpPr>
          <p:cNvPr id="10" name="Slide Number Placeholder 5"/>
          <p:cNvSpPr txBox="1"/>
          <p:nvPr userDrawn="1"/>
        </p:nvSpPr>
        <p:spPr>
          <a:xfrm>
            <a:off x="11388439" y="6311241"/>
            <a:ext cx="37447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F6F9FB9-CEB1-457A-B993-A1A76D83EC0F}" type="slidenum">
              <a:rPr lang="zh-CN" altLang="en-US" sz="1200" smtClean="0">
                <a:solidFill>
                  <a:schemeClr val="bg1"/>
                </a:solidFill>
                <a:latin typeface="Times New Roman" panose="02020603050405020304" pitchFamily="18" charset="0"/>
                <a:cs typeface="Times New Roman" panose="02020603050405020304" pitchFamily="18" charset="0"/>
              </a:rPr>
              <a:t>‹#›</a:t>
            </a:fld>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031234" y="6341723"/>
            <a:ext cx="481903" cy="280751"/>
          </a:xfrm>
          <a:prstGeom prst="rect">
            <a:avLst/>
          </a:prstGeom>
          <a:noFill/>
        </p:spPr>
        <p:txBody>
          <a:bodyPr wrap="square" rtlCol="0">
            <a:spAutoFit/>
          </a:bodyPr>
          <a:lstStyle/>
          <a:p>
            <a:r>
              <a:rPr lang="en-US" altLang="zh-CN" sz="1200" dirty="0">
                <a:solidFill>
                  <a:schemeClr val="bg1"/>
                </a:solidFill>
                <a:latin typeface="Times New Roman" panose="02020603050405020304" pitchFamily="18" charset="0"/>
                <a:cs typeface="Times New Roman" panose="02020603050405020304" pitchFamily="18" charset="0"/>
              </a:rPr>
              <a:t>Page </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4" name="Rectangle 4"/>
          <p:cNvSpPr/>
          <p:nvPr userDrawn="1"/>
        </p:nvSpPr>
        <p:spPr>
          <a:xfrm>
            <a:off x="0" y="269523"/>
            <a:ext cx="480767" cy="301004"/>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5"/>
          <p:cNvSpPr/>
          <p:nvPr userDrawn="1"/>
        </p:nvSpPr>
        <p:spPr>
          <a:xfrm>
            <a:off x="522433" y="269523"/>
            <a:ext cx="177538" cy="301004"/>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6"/>
          <p:cNvSpPr/>
          <p:nvPr userDrawn="1"/>
        </p:nvSpPr>
        <p:spPr>
          <a:xfrm>
            <a:off x="734601" y="269523"/>
            <a:ext cx="72000" cy="301004"/>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userDrawn="1"/>
        </p:nvGrpSpPr>
        <p:grpSpPr>
          <a:xfrm>
            <a:off x="11752608" y="2347328"/>
            <a:ext cx="180000" cy="2340000"/>
            <a:chOff x="11752608" y="2347328"/>
            <a:chExt cx="180000" cy="2340000"/>
          </a:xfrm>
        </p:grpSpPr>
        <p:sp>
          <p:nvSpPr>
            <p:cNvPr id="17" name="Rounded Rectangle 7"/>
            <p:cNvSpPr/>
            <p:nvPr userDrawn="1"/>
          </p:nvSpPr>
          <p:spPr>
            <a:xfrm>
              <a:off x="11752608" y="2347328"/>
              <a:ext cx="180000" cy="2340000"/>
            </a:xfrm>
            <a:prstGeom prst="roundRect">
              <a:avLst/>
            </a:prstGeom>
            <a:solidFill>
              <a:srgbClr val="5A327D"/>
            </a:solidFill>
            <a:ln w="25400">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2"/>
            <p:cNvSpPr txBox="1"/>
            <p:nvPr userDrawn="1"/>
          </p:nvSpPr>
          <p:spPr>
            <a:xfrm>
              <a:off x="11762061" y="2396507"/>
              <a:ext cx="153888" cy="2232000"/>
            </a:xfrm>
            <a:prstGeom prst="rect">
              <a:avLst/>
            </a:prstGeom>
            <a:noFill/>
          </p:spPr>
          <p:txBody>
            <a:bodyPr vert="eaVert" wrap="square" lIns="0" tIns="0" rIns="0" bIns="0" rtlCol="0">
              <a:spAutoFit/>
            </a:bodyPr>
            <a:lstStyle/>
            <a:p>
              <a:pPr algn="ctr"/>
              <a:r>
                <a:rPr lang="zh-CN" altLang="en-US" sz="1000" kern="1200" dirty="0">
                  <a:solidFill>
                    <a:schemeClr val="bg1"/>
                  </a:solidFill>
                  <a:latin typeface="微软雅黑" panose="020B0503020204020204" pitchFamily="34" charset="-122"/>
                  <a:ea typeface="微软雅黑" panose="020B0503020204020204" pitchFamily="34" charset="-122"/>
                  <a:cs typeface="+mn-cs"/>
                </a:rPr>
                <a:t>算法设计</a:t>
              </a:r>
              <a:r>
                <a:rPr lang="zh-CN" altLang="en-US" sz="1000" kern="1200">
                  <a:solidFill>
                    <a:schemeClr val="bg1"/>
                  </a:solidFill>
                  <a:latin typeface="微软雅黑" panose="020B0503020204020204" pitchFamily="34" charset="-122"/>
                  <a:ea typeface="微软雅黑" panose="020B0503020204020204" pitchFamily="34" charset="-122"/>
                  <a:cs typeface="+mn-cs"/>
                </a:rPr>
                <a:t>与分析        人民邮电出版社</a:t>
              </a:r>
              <a:endParaRPr lang="zh-CN" altLang="en-US" sz="1000" kern="1200" dirty="0">
                <a:solidFill>
                  <a:schemeClr val="bg1"/>
                </a:solidFill>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BB96C3F-8C63-432F-9AD1-2207182A8732}" type="datetimeFigureOut">
              <a:rPr lang="zh-CN" altLang="en-US" smtClean="0"/>
              <a:t>2026/3/20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F6F9FB9-CEB1-457A-B993-A1A76D83EC0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96C3F-8C63-432F-9AD1-2207182A8732}" type="datetimeFigureOut">
              <a:rPr lang="zh-CN" altLang="en-US" smtClean="0"/>
              <a:t>2026/3/20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6F9FB9-CEB1-457A-B993-A1A76D83EC0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nip Diagonal Corner Rectangle 12"/>
          <p:cNvSpPr/>
          <p:nvPr/>
        </p:nvSpPr>
        <p:spPr>
          <a:xfrm>
            <a:off x="2931171" y="3899819"/>
            <a:ext cx="6568845" cy="725672"/>
          </a:xfrm>
          <a:prstGeom prst="snip2Diag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spcBef>
                <a:spcPct val="50000"/>
              </a:spcBef>
            </a:pP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 name="Rounded Rectangle 15"/>
          <p:cNvSpPr/>
          <p:nvPr/>
        </p:nvSpPr>
        <p:spPr>
          <a:xfrm>
            <a:off x="2340433" y="1998397"/>
            <a:ext cx="7670342" cy="134525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rPr>
              <a:t>v</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7" name="Text Box 6"/>
          <p:cNvSpPr txBox="1">
            <a:spLocks noChangeArrowheads="1"/>
          </p:cNvSpPr>
          <p:nvPr/>
        </p:nvSpPr>
        <p:spPr bwMode="auto">
          <a:xfrm>
            <a:off x="2514194" y="2403475"/>
            <a:ext cx="741426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3200" b="1" dirty="0" smtClean="0">
                <a:solidFill>
                  <a:srgbClr val="5C307D"/>
                </a:solidFill>
                <a:latin typeface="Microsoft YaHei UI" panose="020B0503020204020204" pitchFamily="34" charset="-122"/>
                <a:ea typeface="Microsoft YaHei UI" panose="020B0503020204020204" pitchFamily="34" charset="-122"/>
                <a:sym typeface="+mn-ea"/>
              </a:rPr>
              <a:t> </a:t>
            </a:r>
            <a:r>
              <a:rPr lang="zh-CN" altLang="en-US" sz="3200" b="1" dirty="0" smtClean="0">
                <a:solidFill>
                  <a:srgbClr val="5C307D"/>
                </a:solidFill>
                <a:latin typeface="Microsoft YaHei UI" panose="020B0503020204020204" pitchFamily="34" charset="-122"/>
                <a:ea typeface="Microsoft YaHei UI" panose="020B0503020204020204" pitchFamily="34" charset="-122"/>
                <a:sym typeface="+mn-ea"/>
              </a:rPr>
              <a:t>课程介绍</a:t>
            </a:r>
            <a:endParaRPr lang="zh-CN" altLang="en-US" sz="3200" b="1" dirty="0">
              <a:solidFill>
                <a:srgbClr val="5C307D"/>
              </a:solidFill>
              <a:latin typeface="Microsoft YaHei UI" panose="020B0503020204020204" pitchFamily="34" charset="-122"/>
              <a:ea typeface="Microsoft YaHei UI"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28059"/>
            <a:ext cx="10515600" cy="549275"/>
          </a:xfrm>
        </p:spPr>
        <p:txBody>
          <a:bodyPr>
            <a:normAutofit fontScale="90000"/>
          </a:bodyPr>
          <a:lstStyle/>
          <a:p>
            <a:r>
              <a:rPr lang="zh-CN" altLang="en-US" b="1" dirty="0"/>
              <a:t>课程</a:t>
            </a:r>
            <a:r>
              <a:rPr lang="zh-CN" altLang="en-US" b="1" dirty="0" smtClean="0"/>
              <a:t>群和参考教材</a:t>
            </a:r>
            <a:endParaRPr lang="zh-CN" altLang="en-US" b="1" dirty="0"/>
          </a:p>
        </p:txBody>
      </p:sp>
      <p:pic>
        <p:nvPicPr>
          <p:cNvPr id="4" name="内容占位符 3" descr="24级程序设计综合实践群二维码"/>
          <p:cNvPicPr>
            <a:picLocks noGrp="1" noChangeAspect="1"/>
          </p:cNvPicPr>
          <p:nvPr>
            <p:ph idx="1"/>
          </p:nvPr>
        </p:nvPicPr>
        <p:blipFill>
          <a:blip r:embed="rId2"/>
          <a:stretch>
            <a:fillRect/>
          </a:stretch>
        </p:blipFill>
        <p:spPr>
          <a:xfrm>
            <a:off x="2138045" y="1940560"/>
            <a:ext cx="2152650" cy="2762250"/>
          </a:xfrm>
          <a:prstGeom prst="rect">
            <a:avLst/>
          </a:prstGeom>
        </p:spPr>
      </p:pic>
      <p:pic>
        <p:nvPicPr>
          <p:cNvPr id="6" name="图片 5"/>
          <p:cNvPicPr>
            <a:picLocks noChangeAspect="1"/>
          </p:cNvPicPr>
          <p:nvPr/>
        </p:nvPicPr>
        <p:blipFill>
          <a:blip r:embed="rId3"/>
          <a:stretch>
            <a:fillRect/>
          </a:stretch>
        </p:blipFill>
        <p:spPr>
          <a:xfrm>
            <a:off x="6517806" y="1608667"/>
            <a:ext cx="4060024" cy="470132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5133" y="128058"/>
            <a:ext cx="10515600" cy="532341"/>
          </a:xfrm>
        </p:spPr>
        <p:txBody>
          <a:bodyPr>
            <a:normAutofit fontScale="90000"/>
          </a:bodyPr>
          <a:lstStyle/>
          <a:p>
            <a:r>
              <a:rPr lang="zh-CN" altLang="en-US" b="1" dirty="0" smtClean="0"/>
              <a:t>考核方式</a:t>
            </a:r>
            <a:endParaRPr lang="zh-CN" altLang="en-US" b="1" dirty="0"/>
          </a:p>
        </p:txBody>
      </p:sp>
      <p:sp>
        <p:nvSpPr>
          <p:cNvPr id="3" name="内容占位符 2"/>
          <p:cNvSpPr>
            <a:spLocks noGrp="1"/>
          </p:cNvSpPr>
          <p:nvPr>
            <p:ph idx="1"/>
          </p:nvPr>
        </p:nvSpPr>
        <p:spPr>
          <a:xfrm>
            <a:off x="702733" y="928157"/>
            <a:ext cx="10515600" cy="5286375"/>
          </a:xfrm>
        </p:spPr>
        <p:txBody>
          <a:bodyPr/>
          <a:lstStyle/>
          <a:p>
            <a:pPr marL="0" indent="0" algn="just">
              <a:lnSpc>
                <a:spcPct val="150000"/>
              </a:lnSpc>
              <a:spcBef>
                <a:spcPts val="600"/>
              </a:spcBef>
              <a:spcAft>
                <a:spcPts val="600"/>
              </a:spcAft>
              <a:buNone/>
            </a:pPr>
            <a:r>
              <a:rPr lang="zh-CN" altLang="zh-CN" sz="3600" b="1" kern="100" dirty="0">
                <a:solidFill>
                  <a:srgbClr val="FF0000"/>
                </a:solidFill>
                <a:cs typeface="Times New Roman"/>
              </a:rPr>
              <a:t>考核方式（暂定，后期会做调整）</a:t>
            </a:r>
            <a:endParaRPr lang="zh-CN" altLang="zh-CN" sz="2000" kern="100" dirty="0">
              <a:solidFill>
                <a:srgbClr val="FF0000"/>
              </a:solidFill>
              <a:cs typeface="Times New Roman"/>
            </a:endParaRPr>
          </a:p>
          <a:p>
            <a:pPr>
              <a:lnSpc>
                <a:spcPct val="150000"/>
              </a:lnSpc>
              <a:spcAft>
                <a:spcPts val="0"/>
              </a:spcAft>
            </a:pPr>
            <a:r>
              <a:rPr lang="en-US" altLang="zh-CN" kern="100" dirty="0">
                <a:latin typeface="Times New Roman"/>
                <a:cs typeface="宋体"/>
              </a:rPr>
              <a:t>1. </a:t>
            </a:r>
            <a:r>
              <a:rPr lang="zh-CN" altLang="zh-CN" kern="100" dirty="0">
                <a:latin typeface="Times New Roman"/>
                <a:cs typeface="Times New Roman"/>
              </a:rPr>
              <a:t>平时成绩（</a:t>
            </a:r>
            <a:r>
              <a:rPr lang="en-US" altLang="zh-CN" kern="100" dirty="0">
                <a:latin typeface="Times New Roman"/>
                <a:cs typeface="宋体"/>
              </a:rPr>
              <a:t>40%</a:t>
            </a:r>
            <a:r>
              <a:rPr lang="zh-CN" altLang="zh-CN" kern="100" dirty="0">
                <a:latin typeface="Times New Roman"/>
                <a:cs typeface="Times New Roman"/>
              </a:rPr>
              <a:t>）：实习报告两份，其中算法设计和程序设计各一份。</a:t>
            </a:r>
            <a:endParaRPr lang="zh-CN" altLang="zh-CN" sz="4800" b="1" dirty="0">
              <a:latin typeface="宋体"/>
              <a:cs typeface="宋体"/>
            </a:endParaRPr>
          </a:p>
          <a:p>
            <a:pPr>
              <a:lnSpc>
                <a:spcPct val="150000"/>
              </a:lnSpc>
              <a:spcAft>
                <a:spcPts val="0"/>
              </a:spcAft>
            </a:pPr>
            <a:r>
              <a:rPr lang="en-US" altLang="zh-CN" kern="100" dirty="0">
                <a:latin typeface="Times New Roman"/>
                <a:cs typeface="宋体"/>
              </a:rPr>
              <a:t>2. </a:t>
            </a:r>
            <a:r>
              <a:rPr lang="zh-CN" altLang="zh-CN" kern="100" dirty="0">
                <a:latin typeface="Times New Roman"/>
                <a:cs typeface="Times New Roman"/>
              </a:rPr>
              <a:t>项目答辩（书面答辩和线上答辩）（</a:t>
            </a:r>
            <a:r>
              <a:rPr lang="en-US" altLang="zh-CN" kern="100" dirty="0">
                <a:latin typeface="Times New Roman"/>
                <a:cs typeface="宋体"/>
              </a:rPr>
              <a:t>30%</a:t>
            </a:r>
            <a:r>
              <a:rPr lang="zh-CN" altLang="zh-CN" kern="100" dirty="0">
                <a:latin typeface="Times New Roman"/>
                <a:cs typeface="Times New Roman"/>
              </a:rPr>
              <a:t>）：算法设计思路、代码实现、优化效果。</a:t>
            </a:r>
            <a:endParaRPr lang="zh-CN" altLang="zh-CN" sz="4800" b="1" dirty="0">
              <a:latin typeface="宋体"/>
              <a:cs typeface="宋体"/>
            </a:endParaRPr>
          </a:p>
          <a:p>
            <a:pPr>
              <a:lnSpc>
                <a:spcPct val="150000"/>
              </a:lnSpc>
              <a:spcAft>
                <a:spcPts val="0"/>
              </a:spcAft>
            </a:pPr>
            <a:r>
              <a:rPr lang="en-US" altLang="zh-CN" kern="100" dirty="0">
                <a:latin typeface="Times New Roman"/>
                <a:cs typeface="宋体"/>
              </a:rPr>
              <a:t>3. </a:t>
            </a:r>
            <a:r>
              <a:rPr lang="zh-CN" altLang="zh-CN" kern="100" dirty="0">
                <a:latin typeface="Times New Roman"/>
                <a:cs typeface="Times New Roman"/>
              </a:rPr>
              <a:t>算法机考（</a:t>
            </a:r>
            <a:r>
              <a:rPr lang="en-US" altLang="zh-CN" kern="100" dirty="0">
                <a:latin typeface="Times New Roman"/>
                <a:cs typeface="宋体"/>
              </a:rPr>
              <a:t>30%</a:t>
            </a:r>
            <a:r>
              <a:rPr lang="zh-CN" altLang="zh-CN" kern="100" dirty="0">
                <a:latin typeface="Times New Roman"/>
                <a:cs typeface="Times New Roman"/>
              </a:rPr>
              <a:t>）：算法复杂度分析、代码调试。</a:t>
            </a:r>
            <a:endParaRPr lang="zh-CN" altLang="zh-CN" sz="4800" b="1" dirty="0">
              <a:latin typeface="宋体"/>
              <a:cs typeface="宋体"/>
            </a:endParaRPr>
          </a:p>
          <a:p>
            <a:endParaRPr lang="zh-CN" altLang="en-US" dirty="0"/>
          </a:p>
        </p:txBody>
      </p:sp>
    </p:spTree>
    <p:extLst>
      <p:ext uri="{BB962C8B-B14F-4D97-AF65-F5344CB8AC3E}">
        <p14:creationId xmlns:p14="http://schemas.microsoft.com/office/powerpoint/2010/main" val="42186423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5133" y="128058"/>
            <a:ext cx="10515600" cy="532341"/>
          </a:xfrm>
        </p:spPr>
        <p:txBody>
          <a:bodyPr>
            <a:normAutofit fontScale="90000"/>
          </a:bodyPr>
          <a:lstStyle/>
          <a:p>
            <a:r>
              <a:rPr lang="zh-CN" altLang="en-US" b="1" dirty="0" smtClean="0"/>
              <a:t>相关问题说明</a:t>
            </a:r>
            <a:endParaRPr lang="zh-CN" altLang="en-US" b="1" dirty="0"/>
          </a:p>
        </p:txBody>
      </p:sp>
      <p:sp>
        <p:nvSpPr>
          <p:cNvPr id="3" name="内容占位符 2"/>
          <p:cNvSpPr>
            <a:spLocks noGrp="1"/>
          </p:cNvSpPr>
          <p:nvPr>
            <p:ph idx="1"/>
          </p:nvPr>
        </p:nvSpPr>
        <p:spPr>
          <a:xfrm>
            <a:off x="702733" y="928157"/>
            <a:ext cx="10515600" cy="5286375"/>
          </a:xfrm>
        </p:spPr>
        <p:txBody>
          <a:bodyPr>
            <a:normAutofit lnSpcReduction="10000"/>
          </a:bodyPr>
          <a:lstStyle/>
          <a:p>
            <a:pPr>
              <a:lnSpc>
                <a:spcPct val="150000"/>
              </a:lnSpc>
              <a:spcAft>
                <a:spcPts val="0"/>
              </a:spcAft>
            </a:pPr>
            <a:r>
              <a:rPr lang="en-US" altLang="zh-CN" sz="2400" kern="100" dirty="0" smtClean="0">
                <a:latin typeface="Times New Roman"/>
                <a:cs typeface="宋体"/>
              </a:rPr>
              <a:t>1</a:t>
            </a:r>
            <a:r>
              <a:rPr lang="en-US" altLang="zh-CN" sz="2400" kern="100" dirty="0">
                <a:latin typeface="Times New Roman"/>
                <a:cs typeface="宋体"/>
              </a:rPr>
              <a:t>. </a:t>
            </a:r>
            <a:r>
              <a:rPr lang="zh-CN" altLang="en-US" sz="2400" kern="100" dirty="0" smtClean="0">
                <a:latin typeface="Times New Roman"/>
                <a:cs typeface="宋体"/>
              </a:rPr>
              <a:t>合规使用</a:t>
            </a:r>
            <a:r>
              <a:rPr lang="en-US" altLang="zh-CN" sz="2400" kern="100" dirty="0" smtClean="0">
                <a:latin typeface="Times New Roman"/>
                <a:cs typeface="宋体"/>
              </a:rPr>
              <a:t>AI</a:t>
            </a:r>
            <a:r>
              <a:rPr lang="zh-CN" altLang="en-US" sz="2400" kern="100" dirty="0" smtClean="0">
                <a:latin typeface="Times New Roman"/>
                <a:cs typeface="宋体"/>
              </a:rPr>
              <a:t>辅助编程，不能使用</a:t>
            </a:r>
            <a:r>
              <a:rPr lang="en-US" altLang="zh-CN" sz="2400" kern="100" dirty="0" smtClean="0">
                <a:latin typeface="Times New Roman"/>
                <a:cs typeface="宋体"/>
              </a:rPr>
              <a:t>AI</a:t>
            </a:r>
            <a:r>
              <a:rPr lang="zh-CN" altLang="en-US" sz="2400" kern="100" dirty="0" smtClean="0">
                <a:latin typeface="Times New Roman"/>
                <a:cs typeface="宋体"/>
              </a:rPr>
              <a:t>机试</a:t>
            </a:r>
            <a:r>
              <a:rPr lang="zh-CN" altLang="zh-CN" sz="2400" kern="100" dirty="0" smtClean="0">
                <a:latin typeface="Times New Roman"/>
                <a:cs typeface="Times New Roman"/>
              </a:rPr>
              <a:t>。</a:t>
            </a:r>
            <a:r>
              <a:rPr lang="zh-CN" altLang="en-US" sz="2400" kern="100" dirty="0" smtClean="0">
                <a:latin typeface="Times New Roman"/>
                <a:cs typeface="Times New Roman"/>
              </a:rPr>
              <a:t>平时算法编程设计认定违规使用</a:t>
            </a:r>
            <a:r>
              <a:rPr lang="en-US" altLang="zh-CN" sz="2400" kern="100" dirty="0" smtClean="0">
                <a:latin typeface="Times New Roman"/>
                <a:cs typeface="Times New Roman"/>
              </a:rPr>
              <a:t>AI</a:t>
            </a:r>
            <a:r>
              <a:rPr lang="zh-CN" altLang="en-US" sz="2400" kern="100" dirty="0" smtClean="0">
                <a:latin typeface="Times New Roman"/>
                <a:cs typeface="Times New Roman"/>
              </a:rPr>
              <a:t>辅助超过</a:t>
            </a:r>
            <a:r>
              <a:rPr lang="en-US" altLang="zh-CN" sz="2400" kern="100" dirty="0" smtClean="0">
                <a:latin typeface="Times New Roman"/>
                <a:cs typeface="Times New Roman"/>
              </a:rPr>
              <a:t>30%</a:t>
            </a:r>
            <a:r>
              <a:rPr lang="zh-CN" altLang="en-US" sz="2400" kern="100" dirty="0" smtClean="0">
                <a:latin typeface="Times New Roman"/>
                <a:cs typeface="Times New Roman"/>
              </a:rPr>
              <a:t>，作业降</a:t>
            </a:r>
            <a:r>
              <a:rPr lang="en-US" altLang="zh-CN" sz="2400" kern="100" dirty="0" smtClean="0">
                <a:latin typeface="Times New Roman"/>
                <a:cs typeface="Times New Roman"/>
              </a:rPr>
              <a:t>1-2</a:t>
            </a:r>
            <a:r>
              <a:rPr lang="zh-CN" altLang="en-US" sz="2400" kern="100" dirty="0" smtClean="0">
                <a:latin typeface="Times New Roman"/>
                <a:cs typeface="Times New Roman"/>
              </a:rPr>
              <a:t>档评分，情节严重记为</a:t>
            </a:r>
            <a:r>
              <a:rPr lang="en-US" altLang="zh-CN" sz="2400" kern="100" dirty="0" smtClean="0">
                <a:latin typeface="Times New Roman"/>
                <a:cs typeface="Times New Roman"/>
              </a:rPr>
              <a:t>0</a:t>
            </a:r>
            <a:r>
              <a:rPr lang="zh-CN" altLang="en-US" sz="2400" kern="100" dirty="0" smtClean="0">
                <a:latin typeface="Times New Roman"/>
                <a:cs typeface="Times New Roman"/>
              </a:rPr>
              <a:t>分。</a:t>
            </a:r>
            <a:endParaRPr lang="zh-CN" altLang="zh-CN" sz="2400" b="1" dirty="0">
              <a:latin typeface="宋体"/>
              <a:cs typeface="宋体"/>
            </a:endParaRPr>
          </a:p>
          <a:p>
            <a:pPr>
              <a:lnSpc>
                <a:spcPct val="150000"/>
              </a:lnSpc>
              <a:spcAft>
                <a:spcPts val="0"/>
              </a:spcAft>
            </a:pPr>
            <a:r>
              <a:rPr lang="en-US" altLang="zh-CN" sz="2400" kern="100" dirty="0">
                <a:latin typeface="Times New Roman"/>
                <a:cs typeface="宋体"/>
              </a:rPr>
              <a:t>2. </a:t>
            </a:r>
            <a:r>
              <a:rPr lang="zh-CN" altLang="en-US" sz="2400" kern="100" dirty="0" smtClean="0">
                <a:latin typeface="Times New Roman"/>
                <a:cs typeface="宋体"/>
              </a:rPr>
              <a:t>教育</a:t>
            </a:r>
            <a:r>
              <a:rPr lang="zh-CN" altLang="en-US" sz="2400" kern="100" dirty="0" smtClean="0">
                <a:latin typeface="Times New Roman"/>
                <a:cs typeface="宋体"/>
              </a:rPr>
              <a:t>主管部门认可的大学生程序设计类比赛取得省赛三等奖以上，可以免于主要参与人（</a:t>
            </a:r>
            <a:r>
              <a:rPr lang="en-US" altLang="zh-CN" sz="2400" kern="100" dirty="0" smtClean="0">
                <a:latin typeface="Times New Roman"/>
                <a:cs typeface="宋体"/>
              </a:rPr>
              <a:t>1</a:t>
            </a:r>
            <a:r>
              <a:rPr lang="zh-CN" altLang="en-US" sz="2400" kern="100" dirty="0" smtClean="0">
                <a:latin typeface="Times New Roman"/>
                <a:cs typeface="宋体"/>
              </a:rPr>
              <a:t>人）课程考勤</a:t>
            </a:r>
            <a:r>
              <a:rPr lang="zh-CN" altLang="zh-CN" sz="2400" kern="100" dirty="0" smtClean="0">
                <a:latin typeface="Times New Roman"/>
                <a:cs typeface="Times New Roman"/>
              </a:rPr>
              <a:t>。</a:t>
            </a:r>
            <a:r>
              <a:rPr lang="zh-CN" altLang="en-US" sz="2400" kern="100" dirty="0">
                <a:latin typeface="Times New Roman"/>
                <a:cs typeface="Times New Roman"/>
              </a:rPr>
              <a:t>本</a:t>
            </a:r>
            <a:r>
              <a:rPr lang="zh-CN" altLang="en-US" sz="2400" kern="100" dirty="0" smtClean="0">
                <a:latin typeface="Times New Roman"/>
                <a:cs typeface="Times New Roman"/>
              </a:rPr>
              <a:t>学期参加挑战杯等国家一类赛事校赛一等奖并推荐省赛参照执行。多人参与只记排名最靠前的一人。</a:t>
            </a:r>
            <a:endParaRPr lang="zh-CN" altLang="zh-CN" sz="2400" b="1" dirty="0">
              <a:latin typeface="宋体"/>
              <a:cs typeface="宋体"/>
            </a:endParaRPr>
          </a:p>
          <a:p>
            <a:pPr>
              <a:lnSpc>
                <a:spcPct val="150000"/>
              </a:lnSpc>
              <a:spcAft>
                <a:spcPts val="0"/>
              </a:spcAft>
            </a:pPr>
            <a:r>
              <a:rPr lang="en-US" altLang="zh-CN" sz="2400" kern="100" dirty="0">
                <a:latin typeface="Times New Roman"/>
                <a:cs typeface="宋体"/>
              </a:rPr>
              <a:t>3. </a:t>
            </a:r>
            <a:r>
              <a:rPr lang="zh-CN" altLang="en-US" sz="2400" kern="100" dirty="0">
                <a:latin typeface="Times New Roman"/>
                <a:cs typeface="宋体"/>
              </a:rPr>
              <a:t>获得教育主管部门认可的大学生程序设计类比赛取得省赛三等奖以上可以</a:t>
            </a:r>
            <a:r>
              <a:rPr lang="zh-CN" altLang="en-US" sz="2400" kern="100" dirty="0" smtClean="0">
                <a:latin typeface="Times New Roman"/>
                <a:cs typeface="宋体"/>
              </a:rPr>
              <a:t>免试机考，并按照相关等级计入等级分，需提供</a:t>
            </a:r>
            <a:r>
              <a:rPr lang="zh-CN" altLang="en-US" sz="2400" kern="100" smtClean="0">
                <a:latin typeface="Times New Roman"/>
                <a:cs typeface="宋体"/>
              </a:rPr>
              <a:t>证明</a:t>
            </a:r>
            <a:r>
              <a:rPr lang="zh-CN" altLang="en-US" sz="2400" kern="100" smtClean="0">
                <a:latin typeface="Times New Roman"/>
                <a:cs typeface="宋体"/>
              </a:rPr>
              <a:t>材料，最多记两人。</a:t>
            </a:r>
            <a:r>
              <a:rPr lang="zh-CN" altLang="en-US" sz="2400" kern="100" dirty="0" smtClean="0">
                <a:latin typeface="Times New Roman"/>
                <a:cs typeface="宋体"/>
              </a:rPr>
              <a:t>但是不免课程报告和书面答辩。</a:t>
            </a:r>
            <a:endParaRPr lang="en-US" altLang="zh-CN" sz="2400" kern="100" dirty="0" smtClean="0">
              <a:latin typeface="Times New Roman"/>
              <a:cs typeface="宋体"/>
            </a:endParaRPr>
          </a:p>
          <a:p>
            <a:pPr>
              <a:lnSpc>
                <a:spcPct val="150000"/>
              </a:lnSpc>
              <a:spcAft>
                <a:spcPts val="0"/>
              </a:spcAft>
            </a:pPr>
            <a:r>
              <a:rPr lang="en-US" altLang="zh-CN" sz="2400" kern="100" dirty="0" smtClean="0">
                <a:latin typeface="Times New Roman"/>
                <a:cs typeface="宋体"/>
              </a:rPr>
              <a:t>4. </a:t>
            </a:r>
            <a:r>
              <a:rPr lang="zh-CN" altLang="en-US" sz="2400" kern="100" dirty="0" smtClean="0">
                <a:latin typeface="Times New Roman"/>
                <a:cs typeface="宋体"/>
              </a:rPr>
              <a:t>因为个人原因需要调整时间，提交书面申请即可。</a:t>
            </a:r>
            <a:endParaRPr lang="en-US" altLang="zh-CN" sz="2400" kern="100" dirty="0">
              <a:latin typeface="Times New Roman"/>
              <a:cs typeface="宋体"/>
            </a:endParaRPr>
          </a:p>
          <a:p>
            <a:pPr>
              <a:lnSpc>
                <a:spcPct val="150000"/>
              </a:lnSpc>
              <a:spcAft>
                <a:spcPts val="0"/>
              </a:spcAft>
            </a:pPr>
            <a:endParaRPr lang="zh-CN" altLang="en-US" dirty="0"/>
          </a:p>
        </p:txBody>
      </p:sp>
    </p:spTree>
    <p:extLst>
      <p:ext uri="{BB962C8B-B14F-4D97-AF65-F5344CB8AC3E}">
        <p14:creationId xmlns:p14="http://schemas.microsoft.com/office/powerpoint/2010/main" val="24888573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256</Words>
  <Application>Microsoft Office PowerPoint</Application>
  <PresentationFormat>自定义</PresentationFormat>
  <Paragraphs>13</Paragraphs>
  <Slides>4</Slides>
  <Notes>0</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Office Theme</vt:lpstr>
      <vt:lpstr>PowerPoint 演示文稿</vt:lpstr>
      <vt:lpstr>课程群和参考教材</vt:lpstr>
      <vt:lpstr>考核方式</vt:lpstr>
      <vt:lpstr>相关问题说明</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AutoBVT</dc:creator>
  <cp:lastModifiedBy>Administrator</cp:lastModifiedBy>
  <cp:revision>210</cp:revision>
  <dcterms:created xsi:type="dcterms:W3CDTF">2016-09-14T00:58:00Z</dcterms:created>
  <dcterms:modified xsi:type="dcterms:W3CDTF">2026-03-20T08:58:38Z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CB4A30E5C60440B7B7DF55F81D96FDE3</vt:lpwstr>
  </property>
</Properties>
</file>